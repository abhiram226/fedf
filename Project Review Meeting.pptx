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86" r:id="rId2"/>
    <p:sldId id="260" r:id="rId3"/>
    <p:sldId id="257" r:id="rId4"/>
    <p:sldId id="328" r:id="rId5"/>
    <p:sldId id="321" r:id="rId6"/>
    <p:sldId id="326" r:id="rId7"/>
    <p:sldId id="322" r:id="rId8"/>
    <p:sldId id="323" r:id="rId9"/>
    <p:sldId id="324" r:id="rId10"/>
    <p:sldId id="277" r:id="rId11"/>
    <p:sldId id="320" r:id="rId12"/>
    <p:sldId id="327" r:id="rId1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0049" autoAdjust="0"/>
  </p:normalViewPr>
  <p:slideViewPr>
    <p:cSldViewPr>
      <p:cViewPr varScale="1">
        <p:scale>
          <a:sx n="80" d="100"/>
          <a:sy n="80" d="100"/>
        </p:scale>
        <p:origin x="1546" y="53"/>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6/16/2026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6/16/2026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 Flight Status Tracker</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00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a:t>
            </a:r>
            <a:r>
              <a:rPr lang="en-US" sz="3300" dirty="0" err="1">
                <a:solidFill>
                  <a:srgbClr val="0D0D0D"/>
                </a:solidFill>
                <a:latin typeface="Times New Roman" pitchFamily="18" charset="0"/>
                <a:cs typeface="Times New Roman" pitchFamily="18" charset="0"/>
              </a:rPr>
              <a:t>Abhiram.k</a:t>
            </a:r>
            <a:r>
              <a:rPr lang="en-US" sz="3300" dirty="0">
                <a:solidFill>
                  <a:srgbClr val="0D0D0D"/>
                </a:solidFill>
                <a:latin typeface="Times New Roman" pitchFamily="18" charset="0"/>
                <a:cs typeface="Times New Roman" pitchFamily="18" charset="0"/>
              </a:rPr>
              <a:t>            roll 2520030357</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a:t>
            </a:r>
            <a:r>
              <a:rPr lang="en-US" sz="3300" dirty="0" err="1">
                <a:solidFill>
                  <a:srgbClr val="0D0D0D"/>
                </a:solidFill>
                <a:latin typeface="Times New Roman" pitchFamily="18" charset="0"/>
                <a:cs typeface="Times New Roman" pitchFamily="18" charset="0"/>
              </a:rPr>
              <a:t>V.Akhil</a:t>
            </a:r>
            <a:r>
              <a:rPr lang="en-US" sz="3300" dirty="0">
                <a:solidFill>
                  <a:srgbClr val="0D0D0D"/>
                </a:solidFill>
                <a:latin typeface="Times New Roman" pitchFamily="18" charset="0"/>
                <a:cs typeface="Times New Roman" pitchFamily="18" charset="0"/>
              </a:rPr>
              <a:t>                 roll 2520080029</a:t>
            </a: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1</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D Pavitra</a:t>
            </a: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Associate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p:txBody>
          <a:bodyPr>
            <a:normAutofit fontScale="77500" lnSpcReduction="20000"/>
          </a:bodyPr>
          <a:lstStyle/>
          <a:p>
            <a:pPr marL="0" indent="0">
              <a:buNone/>
            </a:pPr>
            <a:r>
              <a:rPr lang="en-IN" sz="3100" dirty="0"/>
              <a:t>Air travel has become one of the most important modes of transportation, making accurate and timely flight information essential for passengers, airlines, and airport authorities. Flight delays, schedule changes, and gate updates can significantly impact travel plans, creating a need for efficient flight tracking systems. web-based Flight Status Tracker developed to provide users with real-time flight information through a simple and interactive interface. The application allows users to search for flights, view flight status, check departure and arrival details, monitor routes, and access recent search </a:t>
            </a:r>
            <a:r>
              <a:rPr lang="en-IN" sz="3100" dirty="0" err="1"/>
              <a:t>history.By</a:t>
            </a:r>
            <a:r>
              <a:rPr lang="en-IN" sz="3100" dirty="0"/>
              <a:t> leveraging modern web technologies and API integration, </a:t>
            </a:r>
            <a:r>
              <a:rPr lang="en-IN" sz="3100" dirty="0" err="1"/>
              <a:t>SkyTrack</a:t>
            </a:r>
            <a:r>
              <a:rPr lang="en-IN" sz="3100" dirty="0"/>
              <a:t> aims to enhance the user experience by delivering reliable, fast, and accessible flight information on both desktop and mobile devices.</a:t>
            </a:r>
          </a:p>
          <a:p>
            <a:endParaRPr lang="en-US" dirty="0"/>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2D94A-D02D-A7ED-2B4B-DB0430DA98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0CE04-55E8-4E5D-660A-C67E68F55441}"/>
              </a:ext>
            </a:extLst>
          </p:cNvPr>
          <p:cNvSpPr>
            <a:spLocks noGrp="1"/>
          </p:cNvSpPr>
          <p:nvPr>
            <p:ph type="title"/>
          </p:nvPr>
        </p:nvSpPr>
        <p:spPr>
          <a:xfrm>
            <a:off x="381000" y="562354"/>
            <a:ext cx="8229600" cy="1143000"/>
          </a:xfrm>
        </p:spPr>
        <p:txBody>
          <a:bodyPr>
            <a:normAutofit/>
          </a:bodyPr>
          <a:lstStyle/>
          <a:p>
            <a:r>
              <a:rPr lang="en-US" sz="3200" b="1" dirty="0">
                <a:solidFill>
                  <a:srgbClr val="0070C0"/>
                </a:solidFill>
                <a:latin typeface="Times New Roman" pitchFamily="18" charset="0"/>
                <a:cs typeface="Times New Roman" pitchFamily="18" charset="0"/>
              </a:rPr>
              <a:t>Abstract</a:t>
            </a:r>
            <a:endParaRPr lang="en-US" sz="3200" dirty="0"/>
          </a:p>
        </p:txBody>
      </p:sp>
      <p:sp>
        <p:nvSpPr>
          <p:cNvPr id="5" name="Content Placeholder 4">
            <a:extLst>
              <a:ext uri="{FF2B5EF4-FFF2-40B4-BE49-F238E27FC236}">
                <a16:creationId xmlns:a16="http://schemas.microsoft.com/office/drawing/2014/main" id="{3FACDC1D-2725-3AC7-8509-C56E104405A8}"/>
              </a:ext>
            </a:extLst>
          </p:cNvPr>
          <p:cNvSpPr>
            <a:spLocks noGrp="1"/>
          </p:cNvSpPr>
          <p:nvPr>
            <p:ph idx="1"/>
          </p:nvPr>
        </p:nvSpPr>
        <p:spPr>
          <a:xfrm>
            <a:off x="457200" y="1752599"/>
            <a:ext cx="8229600" cy="4373565"/>
          </a:xfrm>
        </p:spPr>
        <p:txBody>
          <a:bodyPr>
            <a:normAutofit/>
          </a:bodyPr>
          <a:lstStyle/>
          <a:p>
            <a:pPr marL="0" indent="0" algn="just">
              <a:buNone/>
            </a:pPr>
            <a:r>
              <a:rPr lang="en-US" sz="2400" dirty="0"/>
              <a:t>Flight Status Tracker application that provides real-time flight information through a modern and user-friendly interface. Users can search for flights, view live status updates, check departure and arrival details, track routes, and access recent search history. The system is developed using web technologies such as HTML, CSS, JavaScript, and REST APIs to deliver accurate and responsive flight tracking services. The project aims to enhance passenger convenience by providing quick and reliable access to flight information.</a:t>
            </a:r>
          </a:p>
        </p:txBody>
      </p:sp>
      <p:pic>
        <p:nvPicPr>
          <p:cNvPr id="3" name="Picture 2">
            <a:extLst>
              <a:ext uri="{FF2B5EF4-FFF2-40B4-BE49-F238E27FC236}">
                <a16:creationId xmlns:a16="http://schemas.microsoft.com/office/drawing/2014/main" id="{95DAA67B-4A61-AFD4-C8C5-02B023AE74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extLst>
      <p:ext uri="{BB962C8B-B14F-4D97-AF65-F5344CB8AC3E}">
        <p14:creationId xmlns:p14="http://schemas.microsoft.com/office/powerpoint/2010/main" val="1061977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a:xfrm>
            <a:off x="381000" y="877824"/>
            <a:ext cx="8229600" cy="1143000"/>
          </a:xfrm>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a:xfrm>
            <a:off x="609600" y="2057400"/>
            <a:ext cx="8229600" cy="3810000"/>
          </a:xfrm>
        </p:spPr>
        <p:txBody>
          <a:bodyPr>
            <a:normAutofit/>
          </a:bodyPr>
          <a:lstStyle/>
          <a:p>
            <a:pPr marL="0" indent="0">
              <a:buNone/>
            </a:pPr>
            <a:r>
              <a:rPr lang="en-IN" sz="2600" dirty="0"/>
              <a:t>Passengers need quick and reliable access to real-time flight information.</a:t>
            </a:r>
            <a:br>
              <a:rPr lang="en-IN" sz="2600" dirty="0"/>
            </a:br>
            <a:r>
              <a:rPr lang="en-IN" sz="2600" dirty="0"/>
              <a:t>Flight status updates, delays, gate changes, and schedule modifications are often difficult to track efficiently.</a:t>
            </a:r>
            <a:br>
              <a:rPr lang="en-IN" sz="2600" dirty="0"/>
            </a:br>
            <a:r>
              <a:rPr lang="en-IN" sz="2600" dirty="0"/>
              <a:t>There is a need for a centralized and user-friendly flight tracking system.</a:t>
            </a:r>
            <a:br>
              <a:rPr lang="en-IN" sz="2600" dirty="0"/>
            </a:br>
            <a:r>
              <a:rPr lang="en-IN" sz="2600" dirty="0"/>
              <a:t>The system should provide flight search, live updates, notifications, and accurate flight details in one platform.</a:t>
            </a:r>
          </a:p>
          <a:p>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pic>
        <p:nvPicPr>
          <p:cNvPr id="6" name="Content Placeholder 5">
            <a:extLst>
              <a:ext uri="{FF2B5EF4-FFF2-40B4-BE49-F238E27FC236}">
                <a16:creationId xmlns:a16="http://schemas.microsoft.com/office/drawing/2014/main" id="{5AC31144-2D50-2D5A-ED8A-2F2B783E418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42143"/>
          <a:stretch>
            <a:fillRect/>
          </a:stretch>
        </p:blipFill>
        <p:spPr>
          <a:xfrm>
            <a:off x="952500" y="1143000"/>
            <a:ext cx="7192250" cy="5715000"/>
          </a:xfrm>
          <a:prstGeom prst="rect">
            <a:avLst/>
          </a:prstGeom>
        </p:spPr>
      </p:pic>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295401"/>
            <a:ext cx="8229600" cy="4830764"/>
          </a:xfrm>
        </p:spPr>
        <p:txBody>
          <a:bodyPr>
            <a:normAutofit fontScale="62500" lnSpcReduction="20000"/>
          </a:bodyPr>
          <a:lstStyle/>
          <a:p>
            <a:pPr marL="0" indent="0">
              <a:buNone/>
            </a:pPr>
            <a:r>
              <a:rPr lang="en-IN" b="1" dirty="0"/>
              <a:t>Objective 1: Provide Real-Time Flight Tracking</a:t>
            </a:r>
          </a:p>
          <a:p>
            <a:pPr marL="0" indent="0">
              <a:buNone/>
            </a:pPr>
            <a:r>
              <a:rPr lang="en-IN" b="1" dirty="0"/>
              <a:t>Justification:</a:t>
            </a:r>
            <a:r>
              <a:rPr lang="en-IN" dirty="0"/>
              <a:t> Passengers require up-to-date flight information to plan their travel efficiently and avoid inconvenience caused by delays or schedule changes.</a:t>
            </a:r>
          </a:p>
          <a:p>
            <a:pPr marL="0" indent="0">
              <a:buNone/>
            </a:pPr>
            <a:r>
              <a:rPr lang="en-IN" b="1" dirty="0"/>
              <a:t>Objective 2: Enable Quick Flight Search</a:t>
            </a:r>
          </a:p>
          <a:p>
            <a:pPr marL="0" indent="0">
              <a:buNone/>
            </a:pPr>
            <a:r>
              <a:rPr lang="en-IN" b="1" dirty="0"/>
              <a:t>Justification:</a:t>
            </a:r>
            <a:r>
              <a:rPr lang="en-IN" dirty="0"/>
              <a:t> Users should be able to retrieve flight details instantly using a flight number, reducing the time spent searching across multiple platforms.</a:t>
            </a:r>
          </a:p>
          <a:p>
            <a:pPr marL="0" indent="0">
              <a:buNone/>
            </a:pPr>
            <a:r>
              <a:rPr lang="en-IN" b="1" dirty="0"/>
              <a:t>Objective 3: Display Comprehensive Flight Information</a:t>
            </a:r>
          </a:p>
          <a:p>
            <a:pPr marL="0" indent="0">
              <a:buNone/>
            </a:pPr>
            <a:r>
              <a:rPr lang="en-IN" b="1" dirty="0"/>
              <a:t>Justification:</a:t>
            </a:r>
            <a:r>
              <a:rPr lang="en-IN" dirty="0"/>
              <a:t> Providing departure, arrival, airline, route, and status details in one place improves user convenience and decision-making.</a:t>
            </a:r>
          </a:p>
          <a:p>
            <a:pPr marL="0" indent="0">
              <a:buNone/>
            </a:pPr>
            <a:r>
              <a:rPr lang="en-IN" b="1" dirty="0"/>
              <a:t>Objective 4: Support Notifications and Alerts</a:t>
            </a:r>
          </a:p>
          <a:p>
            <a:pPr marL="0" indent="0">
              <a:buNone/>
            </a:pPr>
            <a:r>
              <a:rPr lang="en-IN" b="1" dirty="0"/>
              <a:t>Justification:</a:t>
            </a:r>
            <a:r>
              <a:rPr lang="en-IN" dirty="0"/>
              <a:t> Automatic alerts for delays, cancellations, and gate changes help users stay informed without continuously checking flight status.</a:t>
            </a:r>
          </a:p>
          <a:p>
            <a:pPr marL="0" indent="0">
              <a:buNone/>
            </a:pPr>
            <a:r>
              <a:rPr lang="en-IN" b="1" dirty="0"/>
              <a:t>Objective 5: Maintain Search History</a:t>
            </a:r>
          </a:p>
          <a:p>
            <a:pPr marL="0" indent="0">
              <a:buNone/>
            </a:pPr>
            <a:r>
              <a:rPr lang="en-IN" b="1" dirty="0"/>
              <a:t>Justification:</a:t>
            </a:r>
            <a:r>
              <a:rPr lang="en-IN" dirty="0"/>
              <a:t> Storing recent searches allows users to quickly access previously viewed flight information and enhances user experience.</a:t>
            </a:r>
          </a:p>
          <a:p>
            <a:endParaRPr lang="en-US" dirty="0"/>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graphicFrame>
        <p:nvGraphicFramePr>
          <p:cNvPr id="3" name="Content Placeholder 2">
            <a:extLst>
              <a:ext uri="{FF2B5EF4-FFF2-40B4-BE49-F238E27FC236}">
                <a16:creationId xmlns:a16="http://schemas.microsoft.com/office/drawing/2014/main" id="{A6FCF021-0EF9-9852-04EA-4198C05AE738}"/>
              </a:ext>
            </a:extLst>
          </p:cNvPr>
          <p:cNvGraphicFramePr>
            <a:graphicFrameLocks noGrp="1"/>
          </p:cNvGraphicFramePr>
          <p:nvPr>
            <p:ph idx="1"/>
          </p:nvPr>
        </p:nvGraphicFramePr>
        <p:xfrm>
          <a:off x="457200" y="1622901"/>
          <a:ext cx="8229600" cy="4480560"/>
        </p:xfrm>
        <a:graphic>
          <a:graphicData uri="http://schemas.openxmlformats.org/drawingml/2006/table">
            <a:tbl>
              <a:tblPr/>
              <a:tblGrid>
                <a:gridCol w="4114800">
                  <a:extLst>
                    <a:ext uri="{9D8B030D-6E8A-4147-A177-3AD203B41FA5}">
                      <a16:colId xmlns:a16="http://schemas.microsoft.com/office/drawing/2014/main" val="3064353384"/>
                    </a:ext>
                  </a:extLst>
                </a:gridCol>
                <a:gridCol w="4114800">
                  <a:extLst>
                    <a:ext uri="{9D8B030D-6E8A-4147-A177-3AD203B41FA5}">
                      <a16:colId xmlns:a16="http://schemas.microsoft.com/office/drawing/2014/main" val="2559059424"/>
                    </a:ext>
                  </a:extLst>
                </a:gridCol>
              </a:tblGrid>
              <a:tr h="0">
                <a:tc>
                  <a:txBody>
                    <a:bodyPr/>
                    <a:lstStyle/>
                    <a:p>
                      <a:pPr>
                        <a:buNone/>
                      </a:pPr>
                      <a:r>
                        <a:rPr lang="en-IN"/>
                        <a:t>CO</a:t>
                      </a:r>
                    </a:p>
                  </a:txBody>
                  <a:tcPr anchor="ctr">
                    <a:lnL>
                      <a:noFill/>
                    </a:lnL>
                    <a:lnR>
                      <a:noFill/>
                    </a:lnR>
                    <a:lnT>
                      <a:noFill/>
                    </a:lnT>
                    <a:lnB>
                      <a:noFill/>
                    </a:lnB>
                    <a:noFill/>
                  </a:tcPr>
                </a:tc>
                <a:tc>
                  <a:txBody>
                    <a:bodyPr/>
                    <a:lstStyle/>
                    <a:p>
                      <a:pPr>
                        <a:buNone/>
                      </a:pPr>
                      <a:r>
                        <a:rPr lang="en-IN" dirty="0"/>
                        <a:t>Topics Used in Project</a:t>
                      </a:r>
                    </a:p>
                  </a:txBody>
                  <a:tcPr anchor="ctr">
                    <a:lnL>
                      <a:noFill/>
                    </a:lnL>
                    <a:lnR>
                      <a:noFill/>
                    </a:lnR>
                    <a:lnT>
                      <a:noFill/>
                    </a:lnT>
                    <a:lnB>
                      <a:noFill/>
                    </a:lnB>
                    <a:noFill/>
                  </a:tcPr>
                </a:tc>
                <a:extLst>
                  <a:ext uri="{0D108BD9-81ED-4DB2-BD59-A6C34878D82A}">
                    <a16:rowId xmlns:a16="http://schemas.microsoft.com/office/drawing/2014/main" val="19518648"/>
                  </a:ext>
                </a:extLst>
              </a:tr>
              <a:tr h="0">
                <a:tc>
                  <a:txBody>
                    <a:bodyPr/>
                    <a:lstStyle/>
                    <a:p>
                      <a:pPr>
                        <a:buNone/>
                      </a:pPr>
                      <a:r>
                        <a:rPr lang="en-IN" b="1"/>
                        <a:t>CO1</a:t>
                      </a:r>
                      <a:endParaRPr lang="en-IN"/>
                    </a:p>
                  </a:txBody>
                  <a:tcPr anchor="ctr">
                    <a:lnL>
                      <a:noFill/>
                    </a:lnL>
                    <a:lnR>
                      <a:noFill/>
                    </a:lnR>
                    <a:lnT>
                      <a:noFill/>
                    </a:lnT>
                    <a:lnB>
                      <a:noFill/>
                    </a:lnB>
                    <a:noFill/>
                  </a:tcPr>
                </a:tc>
                <a:tc>
                  <a:txBody>
                    <a:bodyPr/>
                    <a:lstStyle/>
                    <a:p>
                      <a:pPr>
                        <a:buNone/>
                      </a:pPr>
                      <a:r>
                        <a:rPr lang="en-IN"/>
                        <a:t>Component-based UI structure, Responsive Design, Separation of HTML, CSS &amp; JS</a:t>
                      </a:r>
                    </a:p>
                  </a:txBody>
                  <a:tcPr anchor="ctr">
                    <a:lnL>
                      <a:noFill/>
                    </a:lnL>
                    <a:lnR>
                      <a:noFill/>
                    </a:lnR>
                    <a:lnT>
                      <a:noFill/>
                    </a:lnT>
                    <a:lnB>
                      <a:noFill/>
                    </a:lnB>
                    <a:noFill/>
                  </a:tcPr>
                </a:tc>
                <a:extLst>
                  <a:ext uri="{0D108BD9-81ED-4DB2-BD59-A6C34878D82A}">
                    <a16:rowId xmlns:a16="http://schemas.microsoft.com/office/drawing/2014/main" val="691332393"/>
                  </a:ext>
                </a:extLst>
              </a:tr>
              <a:tr h="0">
                <a:tc>
                  <a:txBody>
                    <a:bodyPr/>
                    <a:lstStyle/>
                    <a:p>
                      <a:pPr>
                        <a:buNone/>
                      </a:pPr>
                      <a:r>
                        <a:rPr lang="en-IN" b="1"/>
                        <a:t>CO2</a:t>
                      </a:r>
                      <a:endParaRPr lang="en-IN"/>
                    </a:p>
                  </a:txBody>
                  <a:tcPr anchor="ctr">
                    <a:lnL>
                      <a:noFill/>
                    </a:lnL>
                    <a:lnR>
                      <a:noFill/>
                    </a:lnR>
                    <a:lnT>
                      <a:noFill/>
                    </a:lnT>
                    <a:lnB>
                      <a:noFill/>
                    </a:lnB>
                    <a:noFill/>
                  </a:tcPr>
                </a:tc>
                <a:tc>
                  <a:txBody>
                    <a:bodyPr/>
                    <a:lstStyle/>
                    <a:p>
                      <a:pPr>
                        <a:buNone/>
                      </a:pPr>
                      <a:r>
                        <a:rPr lang="en-IN"/>
                        <a:t>ES6+ Features, Arrow Functions, Template Literals, Async/Await, Array Methods</a:t>
                      </a:r>
                    </a:p>
                  </a:txBody>
                  <a:tcPr anchor="ctr">
                    <a:lnL>
                      <a:noFill/>
                    </a:lnL>
                    <a:lnR>
                      <a:noFill/>
                    </a:lnR>
                    <a:lnT>
                      <a:noFill/>
                    </a:lnT>
                    <a:lnB>
                      <a:noFill/>
                    </a:lnB>
                    <a:noFill/>
                  </a:tcPr>
                </a:tc>
                <a:extLst>
                  <a:ext uri="{0D108BD9-81ED-4DB2-BD59-A6C34878D82A}">
                    <a16:rowId xmlns:a16="http://schemas.microsoft.com/office/drawing/2014/main" val="2132350351"/>
                  </a:ext>
                </a:extLst>
              </a:tr>
              <a:tr h="0">
                <a:tc>
                  <a:txBody>
                    <a:bodyPr/>
                    <a:lstStyle/>
                    <a:p>
                      <a:pPr>
                        <a:buNone/>
                      </a:pPr>
                      <a:r>
                        <a:rPr lang="en-IN" b="1"/>
                        <a:t>CO3</a:t>
                      </a:r>
                      <a:endParaRPr lang="en-IN"/>
                    </a:p>
                  </a:txBody>
                  <a:tcPr anchor="ctr">
                    <a:lnL>
                      <a:noFill/>
                    </a:lnL>
                    <a:lnR>
                      <a:noFill/>
                    </a:lnR>
                    <a:lnT>
                      <a:noFill/>
                    </a:lnT>
                    <a:lnB>
                      <a:noFill/>
                    </a:lnB>
                    <a:noFill/>
                  </a:tcPr>
                </a:tc>
                <a:tc>
                  <a:txBody>
                    <a:bodyPr/>
                    <a:lstStyle/>
                    <a:p>
                      <a:pPr>
                        <a:buNone/>
                      </a:pPr>
                      <a:r>
                        <a:rPr lang="en-IN"/>
                        <a:t>Not Applicable (React Components, Props, State, Hooks not used)</a:t>
                      </a:r>
                    </a:p>
                  </a:txBody>
                  <a:tcPr anchor="ctr">
                    <a:lnL>
                      <a:noFill/>
                    </a:lnL>
                    <a:lnR>
                      <a:noFill/>
                    </a:lnR>
                    <a:lnT>
                      <a:noFill/>
                    </a:lnT>
                    <a:lnB>
                      <a:noFill/>
                    </a:lnB>
                    <a:noFill/>
                  </a:tcPr>
                </a:tc>
                <a:extLst>
                  <a:ext uri="{0D108BD9-81ED-4DB2-BD59-A6C34878D82A}">
                    <a16:rowId xmlns:a16="http://schemas.microsoft.com/office/drawing/2014/main" val="514804306"/>
                  </a:ext>
                </a:extLst>
              </a:tr>
              <a:tr h="0">
                <a:tc>
                  <a:txBody>
                    <a:bodyPr/>
                    <a:lstStyle/>
                    <a:p>
                      <a:pPr>
                        <a:buNone/>
                      </a:pPr>
                      <a:r>
                        <a:rPr lang="en-IN" b="1"/>
                        <a:t>CO4</a:t>
                      </a:r>
                      <a:endParaRPr lang="en-IN"/>
                    </a:p>
                  </a:txBody>
                  <a:tcPr anchor="ctr">
                    <a:lnL>
                      <a:noFill/>
                    </a:lnL>
                    <a:lnR>
                      <a:noFill/>
                    </a:lnR>
                    <a:lnT>
                      <a:noFill/>
                    </a:lnT>
                    <a:lnB>
                      <a:noFill/>
                    </a:lnB>
                    <a:noFill/>
                  </a:tcPr>
                </a:tc>
                <a:tc>
                  <a:txBody>
                    <a:bodyPr/>
                    <a:lstStyle/>
                    <a:p>
                      <a:pPr>
                        <a:buNone/>
                      </a:pPr>
                      <a:r>
                        <a:rPr lang="en-IN"/>
                        <a:t>API Integration (AviationStack API), Async Data Fetching, UI Updates, Local Storage</a:t>
                      </a:r>
                    </a:p>
                  </a:txBody>
                  <a:tcPr anchor="ctr">
                    <a:lnL>
                      <a:noFill/>
                    </a:lnL>
                    <a:lnR>
                      <a:noFill/>
                    </a:lnR>
                    <a:lnT>
                      <a:noFill/>
                    </a:lnT>
                    <a:lnB>
                      <a:noFill/>
                    </a:lnB>
                    <a:noFill/>
                  </a:tcPr>
                </a:tc>
                <a:extLst>
                  <a:ext uri="{0D108BD9-81ED-4DB2-BD59-A6C34878D82A}">
                    <a16:rowId xmlns:a16="http://schemas.microsoft.com/office/drawing/2014/main" val="1996120330"/>
                  </a:ext>
                </a:extLst>
              </a:tr>
              <a:tr h="0">
                <a:tc>
                  <a:txBody>
                    <a:bodyPr/>
                    <a:lstStyle/>
                    <a:p>
                      <a:pPr>
                        <a:buNone/>
                      </a:pPr>
                      <a:r>
                        <a:rPr lang="en-IN" b="1"/>
                        <a:t>CO5</a:t>
                      </a:r>
                      <a:endParaRPr lang="en-IN"/>
                    </a:p>
                  </a:txBody>
                  <a:tcPr anchor="ctr">
                    <a:lnL>
                      <a:noFill/>
                    </a:lnL>
                    <a:lnR>
                      <a:noFill/>
                    </a:lnR>
                    <a:lnT>
                      <a:noFill/>
                    </a:lnT>
                    <a:lnB>
                      <a:noFill/>
                    </a:lnB>
                    <a:noFill/>
                  </a:tcPr>
                </a:tc>
                <a:tc>
                  <a:txBody>
                    <a:bodyPr/>
                    <a:lstStyle/>
                    <a:p>
                      <a:pPr>
                        <a:buNone/>
                      </a:pPr>
                      <a:r>
                        <a:rPr lang="en-IN"/>
                        <a:t>Input Validation, Responsive UI, User-Friendly Interface</a:t>
                      </a:r>
                    </a:p>
                  </a:txBody>
                  <a:tcPr anchor="ctr">
                    <a:lnL>
                      <a:noFill/>
                    </a:lnL>
                    <a:lnR>
                      <a:noFill/>
                    </a:lnR>
                    <a:lnT>
                      <a:noFill/>
                    </a:lnT>
                    <a:lnB>
                      <a:noFill/>
                    </a:lnB>
                    <a:noFill/>
                  </a:tcPr>
                </a:tc>
                <a:extLst>
                  <a:ext uri="{0D108BD9-81ED-4DB2-BD59-A6C34878D82A}">
                    <a16:rowId xmlns:a16="http://schemas.microsoft.com/office/drawing/2014/main" val="2195580179"/>
                  </a:ext>
                </a:extLst>
              </a:tr>
              <a:tr h="0">
                <a:tc>
                  <a:txBody>
                    <a:bodyPr/>
                    <a:lstStyle/>
                    <a:p>
                      <a:pPr>
                        <a:buNone/>
                      </a:pPr>
                      <a:r>
                        <a:rPr lang="en-IN" b="1"/>
                        <a:t>CO6</a:t>
                      </a:r>
                      <a:endParaRPr lang="en-IN"/>
                    </a:p>
                  </a:txBody>
                  <a:tcPr anchor="ctr">
                    <a:lnL>
                      <a:noFill/>
                    </a:lnL>
                    <a:lnR>
                      <a:noFill/>
                    </a:lnR>
                    <a:lnT>
                      <a:noFill/>
                    </a:lnT>
                    <a:lnB>
                      <a:noFill/>
                    </a:lnB>
                    <a:noFill/>
                  </a:tcPr>
                </a:tc>
                <a:tc>
                  <a:txBody>
                    <a:bodyPr/>
                    <a:lstStyle/>
                    <a:p>
                      <a:pPr>
                        <a:buNone/>
                      </a:pPr>
                      <a:r>
                        <a:rPr lang="en-IN" dirty="0"/>
                        <a:t>Not Applicable (No Testing, CI/CD, Build Tools or Deployment)</a:t>
                      </a:r>
                    </a:p>
                  </a:txBody>
                  <a:tcPr anchor="ctr">
                    <a:lnL>
                      <a:noFill/>
                    </a:lnL>
                    <a:lnR>
                      <a:noFill/>
                    </a:lnR>
                    <a:lnT>
                      <a:noFill/>
                    </a:lnT>
                    <a:lnB>
                      <a:noFill/>
                    </a:lnB>
                    <a:noFill/>
                  </a:tcPr>
                </a:tc>
                <a:extLst>
                  <a:ext uri="{0D108BD9-81ED-4DB2-BD59-A6C34878D82A}">
                    <a16:rowId xmlns:a16="http://schemas.microsoft.com/office/drawing/2014/main" val="1743025696"/>
                  </a:ext>
                </a:extLst>
              </a:tr>
            </a:tbl>
          </a:graphicData>
        </a:graphic>
      </p:graphicFrame>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pic>
        <p:nvPicPr>
          <p:cNvPr id="6" name="Content Placeholder 5">
            <a:extLst>
              <a:ext uri="{FF2B5EF4-FFF2-40B4-BE49-F238E27FC236}">
                <a16:creationId xmlns:a16="http://schemas.microsoft.com/office/drawing/2014/main" id="{57054CEF-14A9-8F6A-AA13-B1880569D423}"/>
              </a:ext>
            </a:extLst>
          </p:cNvPr>
          <p:cNvPicPr>
            <a:picLocks noGrp="1" noChangeAspect="1"/>
          </p:cNvPicPr>
          <p:nvPr>
            <p:ph idx="1"/>
          </p:nvPr>
        </p:nvPicPr>
        <p:blipFill>
          <a:blip r:embed="rId2"/>
          <a:stretch>
            <a:fillRect/>
          </a:stretch>
        </p:blipFill>
        <p:spPr>
          <a:xfrm>
            <a:off x="685800" y="1219200"/>
            <a:ext cx="3963416" cy="4983163"/>
          </a:xfrm>
          <a:prstGeom prst="rect">
            <a:avLst/>
          </a:prstGeom>
        </p:spPr>
      </p:pic>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pic>
        <p:nvPicPr>
          <p:cNvPr id="12" name="Picture 11">
            <a:extLst>
              <a:ext uri="{FF2B5EF4-FFF2-40B4-BE49-F238E27FC236}">
                <a16:creationId xmlns:a16="http://schemas.microsoft.com/office/drawing/2014/main" id="{6DDD0298-490D-0A6C-76C7-5C5BFF5FC666}"/>
              </a:ext>
            </a:extLst>
          </p:cNvPr>
          <p:cNvPicPr>
            <a:picLocks noChangeAspect="1"/>
          </p:cNvPicPr>
          <p:nvPr/>
        </p:nvPicPr>
        <p:blipFill>
          <a:blip r:embed="rId4"/>
          <a:stretch>
            <a:fillRect/>
          </a:stretch>
        </p:blipFill>
        <p:spPr>
          <a:xfrm>
            <a:off x="4953001" y="1219199"/>
            <a:ext cx="3733800" cy="4983163"/>
          </a:xfrm>
          <a:prstGeom prst="rect">
            <a:avLst/>
          </a:prstGeom>
        </p:spPr>
      </p:pic>
    </p:spTree>
    <p:extLst>
      <p:ext uri="{BB962C8B-B14F-4D97-AF65-F5344CB8AC3E}">
        <p14:creationId xmlns:p14="http://schemas.microsoft.com/office/powerpoint/2010/main" val="261048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075239"/>
          </a:xfrm>
        </p:spPr>
        <p:txBody>
          <a:bodyPr>
            <a:normAutofit fontScale="85000" lnSpcReduction="20000"/>
          </a:bodyPr>
          <a:lstStyle/>
          <a:p>
            <a:r>
              <a:rPr lang="en-IN" sz="3300" b="1" dirty="0"/>
              <a:t>Conclusion</a:t>
            </a:r>
          </a:p>
          <a:p>
            <a:pPr marL="0" indent="0">
              <a:buNone/>
            </a:pPr>
            <a:r>
              <a:rPr lang="en-IN" sz="3300" dirty="0"/>
              <a:t>Flight Status Tracker is a web-based application developed to provide users with quick and reliable access to flight information. The system enables users to search for flights, view real-time status updates, access departure and arrival details, and receive important notifications related to their </a:t>
            </a:r>
            <a:r>
              <a:rPr lang="en-IN" sz="3300" dirty="0" err="1"/>
              <a:t>journey.The</a:t>
            </a:r>
            <a:r>
              <a:rPr lang="en-IN" sz="3300" dirty="0"/>
              <a:t> project successfully demonstrates the use of modern web technologies and API integration to create an efficient, user-friendly, and responsive flight tracking platform. By centralizing flight information in a single interface, enhances user convenience and improves access to accurate flight data.</a:t>
            </a:r>
          </a:p>
          <a:p>
            <a:endParaRPr lang="en-US" dirty="0"/>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pic>
        <p:nvPicPr>
          <p:cNvPr id="4" name="Content Placeholder 3">
            <a:extLst>
              <a:ext uri="{FF2B5EF4-FFF2-40B4-BE49-F238E27FC236}">
                <a16:creationId xmlns:a16="http://schemas.microsoft.com/office/drawing/2014/main" id="{B8E41446-8F5E-ADD1-6AC3-D146543C87D8}"/>
              </a:ext>
            </a:extLst>
          </p:cNvPr>
          <p:cNvPicPr>
            <a:picLocks noGrp="1" noChangeAspect="1"/>
          </p:cNvPicPr>
          <p:nvPr>
            <p:ph idx="1"/>
          </p:nvPr>
        </p:nvPicPr>
        <p:blipFill>
          <a:blip r:embed="rId2"/>
          <a:srcRect t="13469"/>
          <a:stretch>
            <a:fillRect/>
          </a:stretch>
        </p:blipFill>
        <p:spPr>
          <a:xfrm>
            <a:off x="76200" y="1609726"/>
            <a:ext cx="8991600" cy="4486274"/>
          </a:xfrm>
          <a:prstGeom prst="rect">
            <a:avLst/>
          </a:prstGeom>
        </p:spPr>
      </p:pic>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2019</TotalTime>
  <Words>777</Words>
  <Application>Microsoft Office PowerPoint</Application>
  <PresentationFormat>On-screen Show (4:3)</PresentationFormat>
  <Paragraphs>69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Times New Roman</vt:lpstr>
      <vt:lpstr>Office Theme</vt:lpstr>
      <vt:lpstr> A Project Review Meeting    on  Flight Status Tracker</vt:lpstr>
      <vt:lpstr>Outline of the Presentation</vt:lpstr>
      <vt:lpstr>Introduction</vt:lpstr>
      <vt:lpstr>Abstract</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abhiram koppisetty</cp:lastModifiedBy>
  <cp:revision>201</cp:revision>
  <dcterms:created xsi:type="dcterms:W3CDTF">2006-08-16T00:00:00Z</dcterms:created>
  <dcterms:modified xsi:type="dcterms:W3CDTF">2026-06-16T04:56:26Z</dcterms:modified>
</cp:coreProperties>
</file>